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22222"/>
                </a:solidFill>
              </a:rPr>
              <a:t>Агент поддержки кредитования МСБ</a:t>
            </a:r>
          </a:p>
          <a:p>
            <a:r>
              <a:rPr sz="2200">
                <a:solidFill>
                  <a:srgbClr val="2A7ADE"/>
                </a:solidFill>
              </a:rPr>
              <a:t>LangGraph (ReAct) · GigaChat-2 · FAISS RAG</a:t>
            </a:r>
          </a:p>
          <a:p>
            <a:r>
              <a:rPr sz="1600" i="1">
                <a:solidFill>
                  <a:srgbClr val="666666"/>
                </a:solidFill>
              </a:rPr>
              <a:t>Отвечает по нормативке, работает с данными клиента, эскалирует и отказывает — с проверяемыми сигналами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</a:rPr>
              <a:t>Фида А. Д.   ·   Сахаутдинова А. И.</a:t>
            </a:r>
          </a:p>
          <a:p>
            <a:r>
              <a:rPr sz="1400" i="1">
                <a:solidFill>
                  <a:srgbClr val="666666"/>
                </a:solidFill>
              </a:rPr>
              <a:t>при участии Claude Code (Opus 4.8) — соавтор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Архитектура: поток одного хода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17420"/>
            <a:ext cx="11430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Ключевые решения реализации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</a:rPr>
              <a:t>• RAG с иерархией заголовков: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чанк несёт путь родительских заголовков (условия помнят продукт) + обзорный чанк; хранит source и номер пункта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</a:rPr>
              <a:t>• Безопасность данных в коде, не в промпте: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клиентские тулы замкнуты на client_id сессии и не принимают id от модели → чужие данные закрыты архитектурно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</a:rPr>
              <a:t>• Машинно-проверяемая эскалация: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escalate(trigger, summary) с триггерами sales/negative/security → детерминированный сигнал для метрик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</a:rPr>
              <a:t>• Рефлексия + долговременная память: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самооценка ответа всей цепочки (fail-open) и remember/recall по client_id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Из чего состоит агент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ReAct agent loop — вызывает tool → получает результат → выбирает следующее действие, и так до ответа; всё автономно, без подтверждений промежуточных шагов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RAG по нормативке — любой факт (продукт, ставка, требование) берётся из поиска FAISS, а не из памяти модели; чанки хранят источник и номер пункта для ссылок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Клиентские инструменты — профиль / кредиты / заявки / расчёт досрочного погашения из БД, замкнуты на client_id сессии (чужие данные закрыты в коде)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Долговременная память — remember/recall: хранит цель обращения, продукт, сумму/срок, поднимает контекст прошлых ходов и сессий клиента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Self-reflection — доп. слой валидации: агент сам оценивает черновик ответа на соответствие регламенту и переигрывает при провале (fail-open)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Эскалация как действие — escalate(trigger=sales|negative|security): реальный hand-off на человека + детерминированный сигнал для метрик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222"/>
                </a:solidFill>
              </a:rPr>
              <a:t>• Роль и ограничения — system-промпт по регламенту: что делает, чего НЕ делает (не обещает одобрение, не раскрывает скоринг), деловой тон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Как мерили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</a:rPr>
              <a:t>• 180 кейсов qa.jsonl, два независимых сигнала: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escalation — детерминированно: сработал ли нужный триггер; не сработал ли ложно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judge — LLM-судья (GigaChat) сверяет ответ с expected_behavior по сути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Режем по осям: категория, сложность (easy/medium/hard), одно/многоходовость, документ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Цель — показать «было → стало» после фиксов, а не максимизировать число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Результаты по осям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judge pass-rate 64% на 180 кейсах</a:t>
            </a:r>
          </a:p>
        </p:txBody>
      </p:sp>
      <p:pic>
        <p:nvPicPr>
          <p:cNvPr id="5" name="Picture 4" descr="by_difficul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37360"/>
            <a:ext cx="5257800" cy="4206240"/>
          </a:xfrm>
          <a:prstGeom prst="rect">
            <a:avLst/>
          </a:prstGeom>
        </p:spPr>
      </p:pic>
      <p:pic>
        <p:nvPicPr>
          <p:cNvPr id="6" name="Picture 5" descr="by_multit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760" y="1737360"/>
            <a:ext cx="467360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</a:rPr>
              <a:t>Сложность монотонна: easy 73% → medium 64% → hard 58%. Многоходовые труднее одноходовых.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Находка: что eval поймал, а судья пропустил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Симптом: judge ставил «pass», но детерминированный escalation-сигнал sales = 17%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Причина: GigaChat-2 печатал вызов инструмента ТЕКСТОМ —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trigger="sales", escalate(...), remember(...) вместо структурного tool-call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666666"/>
                </a:solidFill>
              </a:rPr>
              <a:t>– похоже на ответ, но реального действия (hand-off / запись в память) НЕ происходит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Масштаб: 11 из 180 кейсов (6%), стохастично между прогонами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Мораль: одного LLM-судьи мало — нужен детерминированный сигнал по факту вызова инструмента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Что именно пофиксили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Клиент пишет: «Хочу оформить кредит на развитие» → агент должен передать заявку человеку (escalate sales)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3566160"/>
          </a:xfrm>
          <a:prstGeom prst="roundRect">
            <a:avLst/>
          </a:prstGeom>
          <a:solidFill>
            <a:srgbClr val="FCF3F2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C0392B"/>
                </a:solidFill>
              </a:rPr>
              <a:t>БЫЛО  ❌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В промпте триггер описан как ярлык: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ourier New"/>
              </a:rPr>
              <a:t>   1. trigger="sales" — клиент хочет…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Модель копирует ярлык в ТЕКСТ ответа: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ourier New"/>
              </a:rPr>
              <a:t>   trigger="sales"  Понял ваше намерение…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Инструмент escalate НЕ вызван: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ourier New"/>
              </a:rPr>
              <a:t>   • эскалации в системе нет → оператор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     не подключён, заявка повисла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   • клиент видит «сырой» trigger="sales"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Метрика escalation_sales = 17%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486400" cy="3566160"/>
          </a:xfrm>
          <a:prstGeom prst="roundRect">
            <a:avLst/>
          </a:prstGeom>
          <a:solidFill>
            <a:srgbClr val="F1FAF4"/>
          </a:solidFill>
          <a:ln w="19050">
            <a:solidFill>
              <a:srgbClr val="2E8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/>
          <a:lstStyle/>
          <a:p>
            <a:pPr algn="ctr"/>
            <a:r>
              <a:rPr sz="1600" b="1">
                <a:solidFill>
                  <a:srgbClr val="2E864F"/>
                </a:solidFill>
              </a:rPr>
              <a:t>СТАЛО  ✅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Фикс 1 — промпт: триггер как ДЕЙСТВИЕ +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   «эскалация только вызовом инструмента,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22222"/>
                </a:solidFill>
                <a:latin typeface="Courier New"/>
              </a:rPr>
              <a:t>    не пиши trigger= текстом»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Фикс 2 — guard в agent.py (детерминир.):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   видит текстовый вызов в ответе →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   • поднимает реальную escalate(sales)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   • прячет «сырой» вызов, шлёт hand-off: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     «Передаю обращение специалисту…»</a:t>
            </a:r>
          </a:p>
          <a:p>
            <a:pPr>
              <a:spcAft>
                <a:spcPts val="400"/>
              </a:spcAft>
            </a:pPr>
            <a:r>
              <a:rPr sz="1250">
                <a:solidFill>
                  <a:srgbClr val="222222"/>
                </a:solidFill>
              </a:rPr>
              <a:t>escalation_sales 17% → 39% → 44%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666666"/>
                </a:solidFill>
              </a:rPr>
              <a:t>• Guard не зависит от «послушности» модели и ТОЛЬКО добавляет эскалации (никогда не убирает).</a:t>
            </a:r>
          </a:p>
          <a:p>
            <a:r>
              <a:rPr sz="1300">
                <a:solidFill>
                  <a:srgbClr val="666666"/>
                </a:solidFill>
              </a:rPr>
              <a:t>• Бонус-фикс: GIGACHAT_CREDENTIALS — авто-обновление токена, длинные прогоны eval не падают на «Token expired».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Было → стало: эскалация (детерминир. сигнал)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pic>
        <p:nvPicPr>
          <p:cNvPr id="4" name="Picture 3" descr="escalation_before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1323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63840" y="182880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sales: 17% → 39% → 44%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negative: 88% → 56% → 69%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  – (baseline → +промпт → +guard)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Guard даёт монотонный плюс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</a:rPr>
              <a:t>• Честно: negative baseline 88% —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  – tool-calling GigaChat стохастичен между прогонами (88%↔56%); guard ограничивает просадку, но не перебивает дисперсию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Пример 1 · RAG по нормативке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info · канал chat_site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2335" y="1371600"/>
            <a:ext cx="5852160" cy="722376"/>
          </a:xfrm>
          <a:prstGeom prst="roundRect">
            <a:avLst/>
          </a:prstGeom>
          <a:solidFill>
            <a:srgbClr val="DCEBFB"/>
          </a:solidFill>
          <a:ln w="12700">
            <a:solidFill>
              <a:srgbClr val="2A7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2A7ADE"/>
                </a:solidFill>
              </a:rPr>
              <a:t>👤 Клиент</a:t>
            </a:r>
          </a:p>
          <a:p>
            <a:r>
              <a:rPr sz="1250">
                <a:solidFill>
                  <a:srgbClr val="222222"/>
                </a:solidFill>
              </a:rPr>
              <a:t>Здравствуйте. Какие кредиты вы предлагаете малому бизнесу?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76272"/>
            <a:ext cx="8046720" cy="722376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CF8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CF8B1F"/>
                </a:solidFill>
              </a:rPr>
              <a:t>🔧 вызов инструмента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search_regulations({"query": "линейка кредитных продуктов для МСБ"})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80944"/>
            <a:ext cx="8046720" cy="909828"/>
          </a:xfrm>
          <a:prstGeom prst="roundRect">
            <a:avLst/>
          </a:prstGeom>
          <a:solidFill>
            <a:srgbClr val="EDF1F3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666666"/>
                </a:solidFill>
              </a:rPr>
              <a:t>⚙️ результат · search_regulations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--- [01_credit_products.md#2] --- [01_credit_products.md#2] Линейка кредитных продуктов — перечень всех продуктов Полная линейка кредитных продуктов для малого 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3068"/>
            <a:ext cx="8595360" cy="1284731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2E8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2E864F"/>
                </a:solidFill>
              </a:rPr>
              <a:t>🤖 Ответ агента</a:t>
            </a:r>
          </a:p>
          <a:p>
            <a:r>
              <a:rPr sz="1250">
                <a:solidFill>
                  <a:srgbClr val="222222"/>
                </a:solidFill>
              </a:rPr>
              <a:t>Мы предлагаем малому бизнесу следующие кредитные продукты:  1. Кредит «Бизнес-Оборот» – для финансирования текущих операций. 2. Кредит «Бизнес-Развитие» – для инвестиций в развитие бизнеса, например, покупка оборудования или недвижимости. 3. Овердрафт «Бизнес-Лимит» – краткосрочный кредит для покрыт…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Пример 2 · Клиентские тулы + расчёт досрочного погашения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transactional · канал chat_intern · client_id C-000001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2335" y="1371600"/>
            <a:ext cx="5852160" cy="722376"/>
          </a:xfrm>
          <a:prstGeom prst="roundRect">
            <a:avLst/>
          </a:prstGeom>
          <a:solidFill>
            <a:srgbClr val="DCEBFB"/>
          </a:solidFill>
          <a:ln w="12700">
            <a:solidFill>
              <a:srgbClr val="2A7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2A7ADE"/>
                </a:solidFill>
              </a:rPr>
              <a:t>👤 Клиент</a:t>
            </a:r>
          </a:p>
          <a:p>
            <a:r>
              <a:rPr sz="1250">
                <a:solidFill>
                  <a:srgbClr val="222222"/>
                </a:solidFill>
              </a:rPr>
              <a:t>Сколько мне нужно для полного досрочного погашения?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76272"/>
            <a:ext cx="8046720" cy="53492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CF8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CF8B1F"/>
                </a:solidFill>
              </a:rPr>
              <a:t>🔧 вызов инструмента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get_active_loans({})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93492"/>
            <a:ext cx="8046720" cy="909828"/>
          </a:xfrm>
          <a:prstGeom prst="roundRect">
            <a:avLst/>
          </a:prstGeom>
          <a:solidFill>
            <a:srgbClr val="EDF1F3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666666"/>
                </a:solidFill>
              </a:rPr>
              <a:t>⚙️ результат · get_active_loans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[   {     "contract_id": "K-000001",     "product_code": "BUSINESS_OBOROT",     "product_name": "Бизнес-Оборот",     "contract_date": "2025-08-14",     "amount_…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85616"/>
            <a:ext cx="8046720" cy="534924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CF8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CF8B1F"/>
                </a:solidFill>
              </a:rPr>
              <a:t>🔧 вызов инструмента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calc_early_repayment({"contract_id": "K-000001"})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402836"/>
            <a:ext cx="8046720" cy="909828"/>
          </a:xfrm>
          <a:prstGeom prst="roundRect">
            <a:avLst/>
          </a:prstGeom>
          <a:solidFill>
            <a:srgbClr val="EDF1F3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666666"/>
                </a:solidFill>
              </a:rPr>
              <a:t>⚙️ результат · calc_early_repayment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{   "contract_id": "K-000001",   "product_name": "Бизнес-Оборот",   "product_code": "BUSINESS_OBOROT",   "target_date": "2026-06-15",   "principal_outstanding":…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94960"/>
            <a:ext cx="8595360" cy="909828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2E8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2E864F"/>
                </a:solidFill>
              </a:rPr>
              <a:t>🤖 Ответ агента</a:t>
            </a:r>
          </a:p>
          <a:p>
            <a:r>
              <a:rPr sz="1250">
                <a:solidFill>
                  <a:srgbClr val="222222"/>
                </a:solidFill>
              </a:rPr>
              <a:t>Для полного досрочного погашения по вашему кредиту "Бизнес-Оборот" потребуется примерно 3036493 рубля. Из них 3000000 — основной долг, и 36493 — начисленные проценты. Уточните, если нужно подробнее.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Пример 3 · Эскалация (sales) → реальный hand-off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10241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escalation_sales · канал chat_intern · client_id C-000001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2335" y="1371600"/>
            <a:ext cx="5852160" cy="534924"/>
          </a:xfrm>
          <a:prstGeom prst="roundRect">
            <a:avLst/>
          </a:prstGeom>
          <a:solidFill>
            <a:srgbClr val="DCEBFB"/>
          </a:solidFill>
          <a:ln w="12700">
            <a:solidFill>
              <a:srgbClr val="2A7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2A7ADE"/>
                </a:solidFill>
              </a:rPr>
              <a:t>👤 Клиент</a:t>
            </a:r>
          </a:p>
          <a:p>
            <a:r>
              <a:rPr sz="1250">
                <a:solidFill>
                  <a:srgbClr val="222222"/>
                </a:solidFill>
              </a:rPr>
              <a:t>Хочу оформить ещё один кредит на 2 миллиона.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88820"/>
            <a:ext cx="8046720" cy="722376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CF8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CF8B1F"/>
                </a:solidFill>
              </a:rPr>
              <a:t>🔧 вызов инструмента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escalate({"summary": "желает оформить кредит на 2 миллиона", "trigger": "sales"})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93492"/>
            <a:ext cx="8046720" cy="909828"/>
          </a:xfrm>
          <a:prstGeom prst="roundRect">
            <a:avLst/>
          </a:prstGeom>
          <a:solidFill>
            <a:srgbClr val="EDF1F3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666666"/>
                </a:solidFill>
              </a:rPr>
              <a:t>⚙️ результат · escalate</a:t>
            </a:r>
          </a:p>
          <a:p>
            <a:r>
              <a:rPr sz="1100">
                <a:solidFill>
                  <a:srgbClr val="222222"/>
                </a:solidFill>
                <a:latin typeface="Courier New"/>
              </a:rPr>
              <a:t>[[ESCALATION]] trigger=sales Обращение передано сотруднику с контекстом. Сводка: желает оформить кредит на 2 миллиона Сообщи клиенту, что переключаешь его на сп…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85616"/>
            <a:ext cx="8595360" cy="722376"/>
          </a:xfrm>
          <a:prstGeom prst="roundRect">
            <a:avLst/>
          </a:prstGeom>
          <a:solidFill>
            <a:srgbClr val="E6F7EC"/>
          </a:solidFill>
          <a:ln w="12700">
            <a:solidFill>
              <a:srgbClr val="2E86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100" b="1">
                <a:solidFill>
                  <a:srgbClr val="2E864F"/>
                </a:solidFill>
              </a:rPr>
              <a:t>🤖 Ответ агента</a:t>
            </a:r>
          </a:p>
          <a:p>
            <a:r>
              <a:rPr sz="1250">
                <a:solidFill>
                  <a:srgbClr val="222222"/>
                </a:solidFill>
              </a:rPr>
              <a:t>Понимаю ваше желание расширить финансирование. Сейчас передам ваш запрос специалисту для подробной консультации.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902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864F"/>
                </a:solidFill>
              </a:rPr>
              <a:t>✅ эскалация зафиксирована: trigger = sales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22222"/>
                </a:solidFill>
              </a:rPr>
              <a:t>Чего не хватает и что улучшить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51560"/>
            <a:ext cx="2194560" cy="54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• Память — уровень 1 (локальный JSON):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66666"/>
                </a:solidFill>
              </a:rPr>
              <a:t>– до уровня 2 нужен внешний долговременный стор («цифровой двойник» клиента) с поиском по смыслу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• Корень проблемы — стохастичность tool-calling GigaChat: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66666"/>
                </a:solidFill>
              </a:rPr>
              <a:t>– guard смягчает, но надёжнее — structured-output / function-calling режим + ретраи невалидных вызовов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• Краевые случаи (edge_*) и transactional — слабее всего: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66666"/>
                </a:solidFill>
              </a:rPr>
              <a:t>– отдельный eligibility-шаг (проверка сегмента/требований ДО рекомендации) + few-shot примеры отказов; точный график платежей для расчёта ДП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• Оценка качества — один прогон судьи: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66666"/>
                </a:solidFill>
              </a:rPr>
              <a:t>– judge даёт дисперсию; нужно ≥3 прогонов с усреднением, межсудейское согласие, и метрики precision/recall эскалации отдельно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</a:rPr>
              <a:t>• Надёжность и стоимость: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666666"/>
                </a:solidFill>
              </a:rPr>
              <a:t>– фолбэк на локальные эмбеддинги при недоступности API; рефлексия удваивает LLM-вызовы — включать выборочно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